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ve UDP Protokolleri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3060" y="2359469"/>
            <a:ext cx="5897880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Bu </a:t>
            </a:r>
            <a:r>
              <a:rPr dirty="0" err="1"/>
              <a:t>sunumda</a:t>
            </a:r>
            <a:r>
              <a:rPr dirty="0"/>
              <a:t> TCP </a:t>
            </a:r>
            <a:r>
              <a:rPr dirty="0" err="1"/>
              <a:t>ve</a:t>
            </a:r>
            <a:r>
              <a:rPr dirty="0"/>
              <a:t> UDP </a:t>
            </a:r>
            <a:r>
              <a:rPr dirty="0" err="1"/>
              <a:t>protokollerinin</a:t>
            </a:r>
            <a:r>
              <a:rPr dirty="0"/>
              <a:t> </a:t>
            </a:r>
            <a:r>
              <a:rPr dirty="0" err="1"/>
              <a:t>çalışma</a:t>
            </a:r>
            <a:r>
              <a:rPr dirty="0"/>
              <a:t> </a:t>
            </a:r>
            <a:r>
              <a:rPr dirty="0" err="1"/>
              <a:t>mantığı</a:t>
            </a:r>
            <a:r>
              <a:rPr dirty="0"/>
              <a:t>, </a:t>
            </a:r>
            <a:r>
              <a:rPr dirty="0" err="1"/>
              <a:t>ağ</a:t>
            </a:r>
            <a:r>
              <a:rPr dirty="0"/>
              <a:t> </a:t>
            </a:r>
            <a:r>
              <a:rPr dirty="0" err="1"/>
              <a:t>iletişimindeki</a:t>
            </a:r>
            <a:r>
              <a:rPr dirty="0"/>
              <a:t> </a:t>
            </a:r>
            <a:r>
              <a:rPr dirty="0" err="1"/>
              <a:t>rolleri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saldırı</a:t>
            </a:r>
            <a:r>
              <a:rPr dirty="0"/>
              <a:t>–</a:t>
            </a:r>
            <a:r>
              <a:rPr dirty="0" err="1"/>
              <a:t>savunma</a:t>
            </a:r>
            <a:r>
              <a:rPr dirty="0"/>
              <a:t> </a:t>
            </a:r>
            <a:r>
              <a:rPr dirty="0" err="1"/>
              <a:t>açısından</a:t>
            </a:r>
            <a:r>
              <a:rPr dirty="0"/>
              <a:t> </a:t>
            </a:r>
            <a:r>
              <a:rPr dirty="0" err="1"/>
              <a:t>etkileri</a:t>
            </a:r>
            <a:r>
              <a:rPr dirty="0"/>
              <a:t> </a:t>
            </a:r>
            <a:r>
              <a:rPr dirty="0" err="1"/>
              <a:t>incelenmektedir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İçindekiler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1. TCP ve UDP Protokolleri</a:t>
            </a:r>
          </a:p>
          <a:p>
            <a:r>
              <a:t>2. TCP Nedir?</a:t>
            </a:r>
          </a:p>
          <a:p>
            <a:r>
              <a:t>3. TCP Kullanım Alanları</a:t>
            </a:r>
          </a:p>
          <a:p>
            <a:r>
              <a:t>4. Three-Way Handshake</a:t>
            </a:r>
          </a:p>
          <a:p>
            <a:r>
              <a:t>5. SYN Flood Saldırısı</a:t>
            </a:r>
          </a:p>
          <a:p>
            <a:r>
              <a:t>6. UDP Nedir?</a:t>
            </a:r>
          </a:p>
          <a:p>
            <a:r>
              <a:t>7. UDP Kullanım Alanları</a:t>
            </a:r>
          </a:p>
          <a:p>
            <a:r>
              <a:t>8. UDP Flood ve IP Spoofing</a:t>
            </a:r>
          </a:p>
          <a:p>
            <a:r>
              <a:t>9. Genel Değerlendirme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 (Transmission Control Protocol), verinin eksiksiz, sıralı ve hatasız şekilde iletilmesini sağlayan bağlantı tabanlı bir protokoldür.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D64615-BD87-50CF-87F9-490EFD5CA7BC}"/>
              </a:ext>
            </a:extLst>
          </p:cNvPr>
          <p:cNvSpPr txBox="1">
            <a:spLocks/>
          </p:cNvSpPr>
          <p:nvPr/>
        </p:nvSpPr>
        <p:spPr>
          <a:xfrm>
            <a:off x="335280" y="311537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TCP Kullanım Alanları</a:t>
            </a:r>
            <a:endParaRPr lang="tr-T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6599E1-5532-3A5F-5A9D-B4322F370095}"/>
              </a:ext>
            </a:extLst>
          </p:cNvPr>
          <p:cNvSpPr txBox="1">
            <a:spLocks/>
          </p:cNvSpPr>
          <p:nvPr/>
        </p:nvSpPr>
        <p:spPr>
          <a:xfrm>
            <a:off x="335280" y="425837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/>
              <a:t>TCP; web siteleri, e-posta servisleri ve dosya transferleri gibi veri kaybının kabul edilemez olduğu alanlarda kullanılır.</a:t>
            </a: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Three-Way Handshake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TCP bağlantısı kurulurken istemci ve sunucu arasında SYN, SYN/ACK ve ACK paketleri gönderilerek güvenli bir bağlantı oluşturulur.</a:t>
            </a:r>
          </a:p>
        </p:txBody>
      </p:sp>
      <p:pic>
        <p:nvPicPr>
          <p:cNvPr id="5" name="Resim 4" descr="metin, ekran görüntüsü, diyagram, erkek eşek, kriko, vale (iskambil), demir sancağı içeren bir resim">
            <a:extLst>
              <a:ext uri="{FF2B5EF4-FFF2-40B4-BE49-F238E27FC236}">
                <a16:creationId xmlns:a16="http://schemas.microsoft.com/office/drawing/2014/main" id="{5A28BDA4-6C83-9878-1548-97895B979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553" y="3515580"/>
            <a:ext cx="5545487" cy="25286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95B294-D5AB-6A17-3ED5-074E752E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 / ACK (Three-Way </a:t>
            </a:r>
            <a:r>
              <a:rPr lang="en-US" dirty="0" err="1"/>
              <a:t>Handshake’in</a:t>
            </a:r>
            <a:r>
              <a:rPr lang="en-US" dirty="0"/>
              <a:t> </a:t>
            </a:r>
            <a:r>
              <a:rPr lang="en-US" dirty="0" err="1"/>
              <a:t>Temeli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31827B-67E6-C44D-6084-4BBA35E5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" y="1755017"/>
            <a:ext cx="6464808" cy="2139696"/>
          </a:xfrm>
        </p:spPr>
        <p:txBody>
          <a:bodyPr>
            <a:normAutofit/>
          </a:bodyPr>
          <a:lstStyle/>
          <a:p>
            <a:r>
              <a:rPr lang="tr-TR" dirty="0"/>
              <a:t>İstemci  ── SYN ──►  Sunucu</a:t>
            </a:r>
          </a:p>
          <a:p>
            <a:r>
              <a:rPr lang="tr-TR" dirty="0"/>
              <a:t>İstemci  ◄─ SYN/ACK ─  Sunucu</a:t>
            </a:r>
          </a:p>
          <a:p>
            <a:r>
              <a:rPr lang="tr-TR" dirty="0"/>
              <a:t>İstemci  ── ACK ──►  Sunucu</a:t>
            </a:r>
          </a:p>
          <a:p>
            <a:endParaRPr lang="tr-TR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6FCBC0-E066-14C7-8837-70E736BF5E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9496" y="4511100"/>
            <a:ext cx="814730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İstemci bağlantı başlatmak ister.(hazır mısın)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SYN/ACK: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Sunucu isteği kabul eder ve hazır olduğunu bildirir.(seni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duydum.evet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hazırım)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ACK: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İstemci onay verir, bağlantı kurulur(tamam başlıyorum)</a:t>
            </a:r>
          </a:p>
        </p:txBody>
      </p:sp>
      <p:pic>
        <p:nvPicPr>
          <p:cNvPr id="3079" name="Picture 7" descr="TCP (Transmission Control Protocol) - What is it, and how does it work? -  ClouDNS Blog">
            <a:extLst>
              <a:ext uri="{FF2B5EF4-FFF2-40B4-BE49-F238E27FC236}">
                <a16:creationId xmlns:a16="http://schemas.microsoft.com/office/drawing/2014/main" id="{82CB84C2-AEFC-AC7C-A098-28B8A6A53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3" t="4787" r="12402"/>
          <a:stretch>
            <a:fillRect/>
          </a:stretch>
        </p:blipFill>
        <p:spPr bwMode="auto">
          <a:xfrm>
            <a:off x="5806441" y="1581281"/>
            <a:ext cx="3264408" cy="230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 Flood Saldırısı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SYN Flood </a:t>
            </a:r>
            <a:r>
              <a:rPr dirty="0" err="1"/>
              <a:t>saldırısında</a:t>
            </a:r>
            <a:r>
              <a:rPr dirty="0"/>
              <a:t> </a:t>
            </a:r>
            <a:r>
              <a:rPr dirty="0" err="1"/>
              <a:t>saldırgan</a:t>
            </a:r>
            <a:r>
              <a:rPr dirty="0"/>
              <a:t>, </a:t>
            </a:r>
            <a:r>
              <a:rPr dirty="0" err="1"/>
              <a:t>bağlantıyı</a:t>
            </a:r>
            <a:r>
              <a:rPr dirty="0"/>
              <a:t> </a:t>
            </a:r>
            <a:r>
              <a:rPr dirty="0" err="1"/>
              <a:t>tamamlamadan</a:t>
            </a:r>
            <a:r>
              <a:rPr dirty="0"/>
              <a:t>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sayıda</a:t>
            </a:r>
            <a:r>
              <a:rPr dirty="0"/>
              <a:t> SYN </a:t>
            </a:r>
            <a:r>
              <a:rPr dirty="0" err="1"/>
              <a:t>isteği</a:t>
            </a:r>
            <a:r>
              <a:rPr dirty="0"/>
              <a:t> </a:t>
            </a:r>
            <a:r>
              <a:rPr dirty="0" err="1"/>
              <a:t>göndererek</a:t>
            </a:r>
            <a:r>
              <a:rPr dirty="0"/>
              <a:t> </a:t>
            </a:r>
            <a:r>
              <a:rPr dirty="0" err="1"/>
              <a:t>sunucu</a:t>
            </a:r>
            <a:r>
              <a:rPr dirty="0"/>
              <a:t> </a:t>
            </a:r>
            <a:r>
              <a:rPr dirty="0" err="1"/>
              <a:t>kaynaklarını</a:t>
            </a:r>
            <a:r>
              <a:rPr dirty="0"/>
              <a:t> </a:t>
            </a:r>
            <a:r>
              <a:rPr dirty="0" err="1"/>
              <a:t>tüketir</a:t>
            </a:r>
            <a:r>
              <a:rPr dirty="0"/>
              <a:t>.</a:t>
            </a:r>
          </a:p>
        </p:txBody>
      </p:sp>
      <p:pic>
        <p:nvPicPr>
          <p:cNvPr id="5" name="Resim 4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9EDD71A-64E6-D100-58FF-CF95361F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5" y="3214797"/>
            <a:ext cx="4814365" cy="336856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547D85-CBD6-132D-476B-9CE78FE8E117}"/>
              </a:ext>
            </a:extLst>
          </p:cNvPr>
          <p:cNvSpPr txBox="1">
            <a:spLocks/>
          </p:cNvSpPr>
          <p:nvPr/>
        </p:nvSpPr>
        <p:spPr>
          <a:xfrm>
            <a:off x="5614416" y="3300984"/>
            <a:ext cx="3072384" cy="3133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tr-TR" dirty="0"/>
              <a:t>Hazır mısın</a:t>
            </a:r>
          </a:p>
          <a:p>
            <a:pPr>
              <a:buFontTx/>
              <a:buChar char="-"/>
            </a:pPr>
            <a:r>
              <a:rPr lang="tr-TR" dirty="0"/>
              <a:t>Duydum seni, evet hazırım</a:t>
            </a:r>
          </a:p>
          <a:p>
            <a:pPr marL="0" indent="0">
              <a:buNone/>
            </a:pPr>
            <a:r>
              <a:rPr lang="tr-TR" dirty="0"/>
              <a:t>-   ---------(</a:t>
            </a:r>
            <a:r>
              <a:rPr lang="tr-TR" dirty="0" err="1"/>
              <a:t>cevapyok</a:t>
            </a:r>
            <a:r>
              <a:rPr lang="tr-TR" dirty="0"/>
              <a:t>)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UDP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UDP (User Datagram Protocol), bağlantısız çalışan, hızlı fakat veri kontrolü ve onay mekanizması olmayan bir protokoldür.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92552B-E0CB-E5E0-A287-9CC4B245D8F4}"/>
              </a:ext>
            </a:extLst>
          </p:cNvPr>
          <p:cNvSpPr txBox="1">
            <a:spLocks/>
          </p:cNvSpPr>
          <p:nvPr/>
        </p:nvSpPr>
        <p:spPr>
          <a:xfrm>
            <a:off x="381000" y="300564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UDP Kullanım Alanları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DAA5C7-1E46-C0F3-1AFA-18F94373879D}"/>
              </a:ext>
            </a:extLst>
          </p:cNvPr>
          <p:cNvSpPr txBox="1">
            <a:spLocks/>
          </p:cNvSpPr>
          <p:nvPr/>
        </p:nvSpPr>
        <p:spPr>
          <a:xfrm>
            <a:off x="381000" y="433120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/>
              <a:t>UDP; canlı yayınlar, çevrim içi oyunlar ve DNS sorguları gibi hızın önemli olduğu alanlarda tercih edilir.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UDP Flood ve IP Spoofing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UDP Flood saldırılarında hedefe çok sayıda UDP paketi gönderilirken, IP Spoofing ile kaynak adresler sahte olarak değiştirilebilir.</a:t>
            </a:r>
          </a:p>
        </p:txBody>
      </p:sp>
      <p:pic>
        <p:nvPicPr>
          <p:cNvPr id="1026" name="Picture 2" descr="What is UDP Flood DDoS Attack? Definition &amp; Protection⚔️">
            <a:extLst>
              <a:ext uri="{FF2B5EF4-FFF2-40B4-BE49-F238E27FC236}">
                <a16:creationId xmlns:a16="http://schemas.microsoft.com/office/drawing/2014/main" id="{01EDE066-2E41-EE1C-AAEC-65440BD58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96" y="3095523"/>
            <a:ext cx="5355336" cy="321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Karşılaştırma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TCP </a:t>
            </a:r>
            <a:r>
              <a:rPr dirty="0" err="1"/>
              <a:t>güvenilirliği</a:t>
            </a:r>
            <a:r>
              <a:rPr dirty="0"/>
              <a:t>, UDP </a:t>
            </a:r>
            <a:r>
              <a:rPr dirty="0" err="1"/>
              <a:t>ise</a:t>
            </a:r>
            <a:r>
              <a:rPr dirty="0"/>
              <a:t> </a:t>
            </a:r>
            <a:r>
              <a:rPr dirty="0" err="1"/>
              <a:t>hızı</a:t>
            </a:r>
            <a:r>
              <a:rPr dirty="0"/>
              <a:t> </a:t>
            </a: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planda</a:t>
            </a:r>
            <a:r>
              <a:rPr dirty="0"/>
              <a:t> </a:t>
            </a:r>
            <a:r>
              <a:rPr dirty="0" err="1"/>
              <a:t>tutar</a:t>
            </a:r>
            <a:r>
              <a:rPr dirty="0"/>
              <a:t>. </a:t>
            </a:r>
            <a:r>
              <a:rPr dirty="0" err="1"/>
              <a:t>Kullanım</a:t>
            </a:r>
            <a:r>
              <a:rPr dirty="0"/>
              <a:t> </a:t>
            </a:r>
            <a:r>
              <a:rPr dirty="0" err="1"/>
              <a:t>alanları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güvenlik</a:t>
            </a:r>
            <a:r>
              <a:rPr dirty="0"/>
              <a:t> </a:t>
            </a:r>
            <a:r>
              <a:rPr dirty="0" err="1"/>
              <a:t>riskleri</a:t>
            </a:r>
            <a:r>
              <a:rPr dirty="0"/>
              <a:t> buna </a:t>
            </a:r>
            <a:r>
              <a:rPr dirty="0" err="1"/>
              <a:t>göre</a:t>
            </a:r>
            <a:r>
              <a:rPr dirty="0"/>
              <a:t> </a:t>
            </a:r>
            <a:r>
              <a:rPr dirty="0" err="1"/>
              <a:t>farklılık</a:t>
            </a:r>
            <a:r>
              <a:rPr dirty="0"/>
              <a:t> </a:t>
            </a:r>
            <a:r>
              <a:rPr dirty="0" err="1"/>
              <a:t>gösterir</a:t>
            </a:r>
            <a:r>
              <a:rPr dirty="0"/>
              <a:t>.</a:t>
            </a:r>
          </a:p>
        </p:txBody>
      </p:sp>
      <p:pic>
        <p:nvPicPr>
          <p:cNvPr id="2050" name="Picture 2" descr="TCP ve UDP Arasındaki Farklar Nedir? | Karel">
            <a:extLst>
              <a:ext uri="{FF2B5EF4-FFF2-40B4-BE49-F238E27FC236}">
                <a16:creationId xmlns:a16="http://schemas.microsoft.com/office/drawing/2014/main" id="{EA05D049-E6D5-2F14-607F-637D65C0B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221" y="3331984"/>
            <a:ext cx="5418963" cy="3251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325</Words>
  <Application>Microsoft Office PowerPoint</Application>
  <PresentationFormat>Ekran Gösterisi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TCP ve UDP Protokolleri</vt:lpstr>
      <vt:lpstr>İçindekiler</vt:lpstr>
      <vt:lpstr>TCP Nedir?</vt:lpstr>
      <vt:lpstr>Three-Way Handshake</vt:lpstr>
      <vt:lpstr>SYN / ACK (Three-Way Handshake’in Temeli)</vt:lpstr>
      <vt:lpstr>SYN Flood Saldırısı</vt:lpstr>
      <vt:lpstr>UDP Nedir?</vt:lpstr>
      <vt:lpstr>UDP Flood ve IP Spoofing</vt:lpstr>
      <vt:lpstr>Karşılaştırma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Eda Nur Aksin</cp:lastModifiedBy>
  <cp:revision>3</cp:revision>
  <dcterms:created xsi:type="dcterms:W3CDTF">2013-01-27T09:14:16Z</dcterms:created>
  <dcterms:modified xsi:type="dcterms:W3CDTF">2025-12-14T23:24:56Z</dcterms:modified>
  <cp:category/>
</cp:coreProperties>
</file>