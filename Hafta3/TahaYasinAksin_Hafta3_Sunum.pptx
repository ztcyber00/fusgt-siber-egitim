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9" r:id="rId3"/>
    <p:sldId id="270" r:id="rId4"/>
    <p:sldId id="271" r:id="rId5"/>
    <p:sldId id="272" r:id="rId6"/>
    <p:sldId id="260" r:id="rId7"/>
    <p:sldId id="262" r:id="rId8"/>
    <p:sldId id="268" r:id="rId9"/>
    <p:sldId id="267" r:id="rId10"/>
  </p:sldIdLst>
  <p:sldSz cx="9144000" cy="6858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tr-TR"/>
              <a:t>Asıl başlık stilini düzenlemek için tıklayın</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9668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5393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120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4799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563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8460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155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7"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9083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6012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8883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3416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tr-TR"/>
              <a:t>Asıl başlık stilini düzenlemek için tıklayın</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tr-TR"/>
              <a:t>Asıl metin stillerini düzenlemek için tıklayın</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064242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4596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7897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4830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6136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9787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12/22/2025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969534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4310" y="2180934"/>
            <a:ext cx="7055380" cy="1400530"/>
          </a:xfrm>
        </p:spPr>
        <p:txBody>
          <a:bodyPr/>
          <a:lstStyle/>
          <a:p>
            <a:pPr algn="ctr"/>
            <a:r>
              <a:rPr lang="tr-TR" b="1" dirty="0"/>
              <a:t>Linux Terminali: </a:t>
            </a:r>
            <a:br>
              <a:rPr lang="tr-TR" b="1" dirty="0"/>
            </a:br>
            <a:r>
              <a:rPr lang="tr-TR" b="1" dirty="0"/>
              <a:t>Siber Güvenliğin Mutfak Tezgahı.</a:t>
            </a:r>
            <a:endParaRPr dirty="0"/>
          </a:p>
        </p:txBody>
      </p:sp>
      <p:pic>
        <p:nvPicPr>
          <p:cNvPr id="4" name="Resim 3">
            <a:extLst>
              <a:ext uri="{FF2B5EF4-FFF2-40B4-BE49-F238E27FC236}">
                <a16:creationId xmlns:a16="http://schemas.microsoft.com/office/drawing/2014/main" id="{C27D4E53-9D52-C70E-D94F-45A16296794D}"/>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45A4E25-DF45-383D-B102-31CE109D20A2}"/>
              </a:ext>
            </a:extLst>
          </p:cNvPr>
          <p:cNvSpPr>
            <a:spLocks noGrp="1"/>
          </p:cNvSpPr>
          <p:nvPr>
            <p:ph type="title"/>
          </p:nvPr>
        </p:nvSpPr>
        <p:spPr/>
        <p:txBody>
          <a:bodyPr/>
          <a:lstStyle/>
          <a:p>
            <a:pPr algn="ctr"/>
            <a:r>
              <a:rPr lang="tr-TR" dirty="0"/>
              <a:t>Çeşitleri </a:t>
            </a:r>
          </a:p>
        </p:txBody>
      </p:sp>
      <p:sp>
        <p:nvSpPr>
          <p:cNvPr id="6" name="Başlık 1">
            <a:extLst>
              <a:ext uri="{FF2B5EF4-FFF2-40B4-BE49-F238E27FC236}">
                <a16:creationId xmlns:a16="http://schemas.microsoft.com/office/drawing/2014/main" id="{DD4896C1-65EF-5844-74F8-4AB107B52C8B}"/>
              </a:ext>
            </a:extLst>
          </p:cNvPr>
          <p:cNvSpPr txBox="1">
            <a:spLocks/>
          </p:cNvSpPr>
          <p:nvPr/>
        </p:nvSpPr>
        <p:spPr>
          <a:xfrm>
            <a:off x="-496746" y="2251038"/>
            <a:ext cx="7055380" cy="1400530"/>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tr-TR" dirty="0"/>
          </a:p>
        </p:txBody>
      </p:sp>
      <p:sp>
        <p:nvSpPr>
          <p:cNvPr id="12" name="Rectangle 6">
            <a:extLst>
              <a:ext uri="{FF2B5EF4-FFF2-40B4-BE49-F238E27FC236}">
                <a16:creationId xmlns:a16="http://schemas.microsoft.com/office/drawing/2014/main" id="{71F54704-45B1-6546-CC02-A4724E8737CB}"/>
              </a:ext>
            </a:extLst>
          </p:cNvPr>
          <p:cNvSpPr>
            <a:spLocks noChangeArrowheads="1"/>
          </p:cNvSpPr>
          <p:nvPr/>
        </p:nvSpPr>
        <p:spPr bwMode="auto">
          <a:xfrm>
            <a:off x="740664" y="1366897"/>
            <a:ext cx="2606040"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Çeşitli türleri vardır: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000" b="0" i="0" u="none" strike="noStrike" cap="none" normalizeH="0" baseline="0" dirty="0">
              <a:ln>
                <a:noFill/>
              </a:ln>
              <a:effectLst/>
            </a:endParaRPr>
          </a:p>
          <a:p>
            <a:pPr marL="285750" marR="0" lvl="0" indent="-285750" algn="l" defTabSz="914400" rtl="0" eaLnBrk="0" fontAlgn="base" latinLnBrk="0" hangingPunct="0">
              <a:lnSpc>
                <a:spcPct val="100000"/>
              </a:lnSpc>
              <a:spcBef>
                <a:spcPct val="0"/>
              </a:spcBef>
              <a:spcAft>
                <a:spcPct val="0"/>
              </a:spcAft>
              <a:buClrTx/>
              <a:buSzTx/>
              <a:buFontTx/>
              <a:buChar char="-"/>
              <a:tabLst/>
            </a:pPr>
            <a:r>
              <a:rPr kumimoji="0" lang="tr-TR" altLang="tr-TR" b="0" i="0" u="none" strike="noStrike" cap="none" normalizeH="0" baseline="0" dirty="0">
                <a:ln>
                  <a:noFill/>
                </a:ln>
                <a:effectLst/>
                <a:latin typeface="Google Sans Text"/>
              </a:rPr>
              <a:t>Ubuntu</a:t>
            </a:r>
          </a:p>
          <a:p>
            <a:pPr marL="171450" marR="0" lvl="0" indent="-171450" algn="l" defTabSz="914400" rtl="0" eaLnBrk="0" fontAlgn="base" latinLnBrk="0" hangingPunct="0">
              <a:lnSpc>
                <a:spcPct val="100000"/>
              </a:lnSpc>
              <a:spcBef>
                <a:spcPct val="0"/>
              </a:spcBef>
              <a:spcAft>
                <a:spcPct val="0"/>
              </a:spcAft>
              <a:buClrTx/>
              <a:buSzTx/>
              <a:buFontTx/>
              <a:buChar char="-"/>
              <a:tabLst/>
            </a:pPr>
            <a:r>
              <a:rPr lang="tr-TR" altLang="tr-TR" dirty="0" err="1">
                <a:latin typeface="Google Sans Text"/>
              </a:rPr>
              <a:t>Kali</a:t>
            </a:r>
            <a:r>
              <a:rPr lang="tr-TR" altLang="tr-TR" dirty="0">
                <a:latin typeface="Google Sans Text"/>
              </a:rPr>
              <a:t> Linux</a:t>
            </a:r>
            <a:endParaRPr kumimoji="0" lang="tr-TR" altLang="tr-TR"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Linux </a:t>
            </a:r>
            <a:r>
              <a:rPr kumimoji="0" lang="tr-TR" altLang="tr-TR" b="0" i="0" u="none" strike="noStrike" cap="none" normalizeH="0" baseline="0" dirty="0" err="1">
                <a:ln>
                  <a:noFill/>
                </a:ln>
                <a:effectLst/>
                <a:latin typeface="Google Sans Text"/>
              </a:rPr>
              <a:t>Mint</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Debian</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Manjaro</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MX Linux</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Solus</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Fedora</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Elementary</a:t>
            </a:r>
            <a:r>
              <a:rPr kumimoji="0" lang="tr-TR" altLang="tr-TR" b="0" i="0" u="none" strike="noStrike" cap="none" normalizeH="0" baseline="0" dirty="0">
                <a:ln>
                  <a:noFill/>
                </a:ln>
                <a:effectLst/>
                <a:latin typeface="Google Sans Text"/>
              </a:rPr>
              <a:t> OS</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Zorin</a:t>
            </a:r>
            <a:r>
              <a:rPr kumimoji="0" lang="tr-TR" altLang="tr-TR" b="0" i="0" u="none" strike="noStrike" cap="none" normalizeH="0" baseline="0" dirty="0">
                <a:ln>
                  <a:noFill/>
                </a:ln>
                <a:effectLst/>
                <a:latin typeface="Google Sans Text"/>
              </a:rPr>
              <a:t> OS</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 </a:t>
            </a:r>
            <a:r>
              <a:rPr kumimoji="0" lang="tr-TR" altLang="tr-TR" b="0" i="0" u="none" strike="noStrike" cap="none" normalizeH="0" baseline="0" dirty="0" err="1">
                <a:ln>
                  <a:noFill/>
                </a:ln>
                <a:effectLst/>
                <a:latin typeface="Google Sans Text"/>
              </a:rPr>
              <a:t>Pop!_OS</a:t>
            </a:r>
            <a:endParaRPr kumimoji="0" lang="tr-TR" altLang="tr-TR" sz="1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Google Sans Text"/>
              </a:rPr>
              <a:t>Çoğunlukla </a:t>
            </a:r>
            <a:r>
              <a:rPr kumimoji="0" lang="tr-TR" altLang="tr-TR" b="0" i="0" u="none" strike="noStrike" cap="none" normalizeH="0" baseline="0" dirty="0" err="1">
                <a:ln>
                  <a:noFill/>
                </a:ln>
                <a:effectLst/>
                <a:latin typeface="Google Sans Text"/>
              </a:rPr>
              <a:t>ubuntu</a:t>
            </a:r>
            <a:r>
              <a:rPr kumimoji="0" lang="tr-TR" altLang="tr-TR" b="0" i="0" u="none" strike="noStrike" cap="none" normalizeH="0" baseline="0" dirty="0">
                <a:ln>
                  <a:noFill/>
                </a:ln>
                <a:effectLst/>
                <a:latin typeface="Google Sans Text"/>
              </a:rPr>
              <a:t> ve </a:t>
            </a:r>
            <a:r>
              <a:rPr kumimoji="0" lang="tr-TR" altLang="tr-TR" b="0" i="0" u="none" strike="noStrike" cap="none" normalizeH="0" baseline="0" dirty="0" err="1">
                <a:ln>
                  <a:noFill/>
                </a:ln>
                <a:effectLst/>
                <a:latin typeface="Google Sans Text"/>
              </a:rPr>
              <a:t>debian</a:t>
            </a:r>
            <a:r>
              <a:rPr kumimoji="0" lang="tr-TR" altLang="tr-TR" b="0" i="0" u="none" strike="noStrike" cap="none" normalizeH="0" baseline="0" dirty="0">
                <a:ln>
                  <a:noFill/>
                </a:ln>
                <a:effectLst/>
                <a:latin typeface="Google Sans Text"/>
              </a:rPr>
              <a:t> kullanılır.</a:t>
            </a:r>
            <a:endParaRPr kumimoji="0" lang="tr-TR" altLang="tr-TR" sz="3200" b="0" i="0" u="none" strike="noStrike" cap="none" normalizeH="0" baseline="0" dirty="0">
              <a:ln>
                <a:noFill/>
              </a:ln>
              <a:effectLst/>
              <a:latin typeface="Arial" panose="020B0604020202020204" pitchFamily="34" charset="0"/>
            </a:endParaRPr>
          </a:p>
        </p:txBody>
      </p:sp>
      <p:sp>
        <p:nvSpPr>
          <p:cNvPr id="13" name="Rectangle 6">
            <a:extLst>
              <a:ext uri="{FF2B5EF4-FFF2-40B4-BE49-F238E27FC236}">
                <a16:creationId xmlns:a16="http://schemas.microsoft.com/office/drawing/2014/main" id="{630E5F1B-C760-5909-ACBC-87E3024149B0}"/>
              </a:ext>
            </a:extLst>
          </p:cNvPr>
          <p:cNvSpPr>
            <a:spLocks noChangeArrowheads="1"/>
          </p:cNvSpPr>
          <p:nvPr/>
        </p:nvSpPr>
        <p:spPr bwMode="auto">
          <a:xfrm>
            <a:off x="4934050" y="1834654"/>
            <a:ext cx="260604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tr-TR" altLang="tr-TR" sz="2000" dirty="0">
                <a:latin typeface="Google Sans Text"/>
              </a:rPr>
              <a:t>Bunlar arasından </a:t>
            </a:r>
            <a:r>
              <a:rPr lang="tr-TR" altLang="tr-TR" sz="2000" dirty="0" err="1">
                <a:latin typeface="Google Sans Text"/>
              </a:rPr>
              <a:t>kali</a:t>
            </a:r>
            <a:r>
              <a:rPr lang="tr-TR" altLang="tr-TR" sz="2000" dirty="0">
                <a:latin typeface="Google Sans Text"/>
              </a:rPr>
              <a:t> </a:t>
            </a:r>
            <a:r>
              <a:rPr lang="tr-TR" altLang="tr-TR" sz="2000" dirty="0" err="1">
                <a:latin typeface="Google Sans Text"/>
              </a:rPr>
              <a:t>linuxun</a:t>
            </a:r>
            <a:r>
              <a:rPr lang="tr-TR" altLang="tr-TR" sz="2000" dirty="0">
                <a:latin typeface="Google Sans Text"/>
              </a:rPr>
              <a:t> daha çok tercih edilmesinin sebebi içinde de gelen araçlardır ve terminal anlamında daha rahat olmasıdır. Bu sebeple linux çeşitleri arasında siber güvenlik alanında </a:t>
            </a:r>
            <a:r>
              <a:rPr lang="tr-TR" altLang="tr-TR" sz="2000" dirty="0" err="1">
                <a:latin typeface="Google Sans Text"/>
              </a:rPr>
              <a:t>kali</a:t>
            </a:r>
            <a:r>
              <a:rPr lang="tr-TR" altLang="tr-TR" sz="2000" dirty="0">
                <a:latin typeface="Google Sans Text"/>
              </a:rPr>
              <a:t> kullanılır.</a:t>
            </a:r>
            <a:endParaRPr kumimoji="0" lang="tr-TR" altLang="tr-TR" sz="2000" b="0" i="0" u="none" strike="noStrike" cap="none" normalizeH="0" baseline="0" dirty="0">
              <a:ln>
                <a:noFill/>
              </a:ln>
              <a:effectLst/>
              <a:latin typeface="Arial" panose="020B0604020202020204" pitchFamily="34" charset="0"/>
            </a:endParaRPr>
          </a:p>
        </p:txBody>
      </p:sp>
      <p:sp>
        <p:nvSpPr>
          <p:cNvPr id="14" name="Ok: Sağ 13">
            <a:extLst>
              <a:ext uri="{FF2B5EF4-FFF2-40B4-BE49-F238E27FC236}">
                <a16:creationId xmlns:a16="http://schemas.microsoft.com/office/drawing/2014/main" id="{6D5A1063-03E9-54DE-690D-B747DF757D58}"/>
              </a:ext>
            </a:extLst>
          </p:cNvPr>
          <p:cNvSpPr/>
          <p:nvPr/>
        </p:nvSpPr>
        <p:spPr>
          <a:xfrm>
            <a:off x="3030944" y="2423160"/>
            <a:ext cx="1678216" cy="1626198"/>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tr-TR"/>
          </a:p>
        </p:txBody>
      </p:sp>
      <p:pic>
        <p:nvPicPr>
          <p:cNvPr id="16" name="Resim 15">
            <a:extLst>
              <a:ext uri="{FF2B5EF4-FFF2-40B4-BE49-F238E27FC236}">
                <a16:creationId xmlns:a16="http://schemas.microsoft.com/office/drawing/2014/main" id="{B651C28A-14EF-089F-0EBA-E823CB4DE38D}"/>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12142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68CD1B4A-80C1-09B3-1326-D6D6360D58C2}"/>
              </a:ext>
            </a:extLst>
          </p:cNvPr>
          <p:cNvSpPr>
            <a:spLocks noGrp="1"/>
          </p:cNvSpPr>
          <p:nvPr>
            <p:ph type="title"/>
          </p:nvPr>
        </p:nvSpPr>
        <p:spPr>
          <a:xfrm>
            <a:off x="484710" y="452718"/>
            <a:ext cx="7055380" cy="1400530"/>
          </a:xfrm>
        </p:spPr>
        <p:txBody>
          <a:bodyPr/>
          <a:lstStyle/>
          <a:p>
            <a:pPr algn="ctr"/>
            <a:r>
              <a:rPr lang="tr-TR" dirty="0"/>
              <a:t>Sistem dosyaları neden önemlidir?</a:t>
            </a:r>
          </a:p>
        </p:txBody>
      </p:sp>
      <p:sp>
        <p:nvSpPr>
          <p:cNvPr id="6" name="Metin kutusu 5">
            <a:extLst>
              <a:ext uri="{FF2B5EF4-FFF2-40B4-BE49-F238E27FC236}">
                <a16:creationId xmlns:a16="http://schemas.microsoft.com/office/drawing/2014/main" id="{E35A66A9-F03A-B8DD-52A1-99067A3A5457}"/>
              </a:ext>
            </a:extLst>
          </p:cNvPr>
          <p:cNvSpPr txBox="1"/>
          <p:nvPr/>
        </p:nvSpPr>
        <p:spPr>
          <a:xfrm>
            <a:off x="754380" y="1870947"/>
            <a:ext cx="7635240" cy="4524315"/>
          </a:xfrm>
          <a:prstGeom prst="rect">
            <a:avLst/>
          </a:prstGeom>
          <a:noFill/>
        </p:spPr>
        <p:txBody>
          <a:bodyPr wrap="square">
            <a:spAutoFit/>
          </a:bodyPr>
          <a:lstStyle/>
          <a:p>
            <a:pPr rtl="0">
              <a:buNone/>
            </a:pPr>
            <a:r>
              <a:rPr lang="tr-TR" b="0" i="0" u="none" strike="noStrike" dirty="0">
                <a:effectLst/>
                <a:latin typeface="Arial" panose="020B0604020202020204" pitchFamily="34" charset="0"/>
              </a:rPr>
              <a:t>/</a:t>
            </a:r>
            <a:r>
              <a:rPr lang="tr-TR" b="0" i="0" u="none" strike="noStrike" dirty="0" err="1">
                <a:effectLst/>
                <a:latin typeface="Arial" panose="020B0604020202020204" pitchFamily="34" charset="0"/>
              </a:rPr>
              <a:t>etc</a:t>
            </a:r>
            <a:r>
              <a:rPr lang="tr-TR" b="0" i="0" u="none" strike="noStrike" dirty="0">
                <a:effectLst/>
                <a:latin typeface="Arial" panose="020B0604020202020204" pitchFamily="34" charset="0"/>
              </a:rPr>
              <a:t>  =&gt; İşletim sistemi tarafından kullanılan sistem dosyalarını depolamak için yaygın kullanılan bir konumdur</a:t>
            </a:r>
            <a:br>
              <a:rPr lang="tr-TR" b="0" i="0" u="none" strike="noStrike" dirty="0">
                <a:effectLst/>
                <a:latin typeface="Arial" panose="020B0604020202020204" pitchFamily="34" charset="0"/>
              </a:rPr>
            </a:br>
            <a:br>
              <a:rPr lang="tr-TR" b="0" i="0" u="none" strike="noStrike" dirty="0">
                <a:effectLst/>
                <a:latin typeface="Arial" panose="020B0604020202020204" pitchFamily="34" charset="0"/>
              </a:rPr>
            </a:br>
            <a:r>
              <a:rPr lang="tr-TR" b="0" i="0" u="none" strike="noStrike" dirty="0">
                <a:effectLst/>
                <a:latin typeface="Arial" panose="020B0604020202020204" pitchFamily="34" charset="0"/>
              </a:rPr>
              <a:t>/var  =&gt;  sistemde çalışan servisler veya tarafından sık sık erişilen veya yazılan verileri depolar. örneğin günlük veriler çoğunlukla /var/log 'a yazılır.</a:t>
            </a:r>
            <a:endParaRPr lang="tr-TR" b="0" dirty="0">
              <a:effectLst/>
            </a:endParaRPr>
          </a:p>
          <a:p>
            <a:pPr>
              <a:buNone/>
            </a:pPr>
            <a:endParaRPr lang="tr-TR" b="0" dirty="0">
              <a:effectLst/>
            </a:endParaRPr>
          </a:p>
          <a:p>
            <a:pPr rtl="0">
              <a:buNone/>
            </a:pPr>
            <a:r>
              <a:rPr lang="tr-TR" b="0" i="0" u="none" strike="noStrike" dirty="0">
                <a:effectLst/>
                <a:latin typeface="Arial" panose="020B0604020202020204" pitchFamily="34" charset="0"/>
              </a:rPr>
              <a:t>/</a:t>
            </a:r>
            <a:r>
              <a:rPr lang="tr-TR" b="0" i="0" u="none" strike="noStrike" dirty="0" err="1">
                <a:effectLst/>
                <a:latin typeface="Arial" panose="020B0604020202020204" pitchFamily="34" charset="0"/>
              </a:rPr>
              <a:t>root</a:t>
            </a:r>
            <a:r>
              <a:rPr lang="tr-TR" b="0" i="0" u="none" strike="noStrike" dirty="0">
                <a:effectLst/>
                <a:latin typeface="Arial" panose="020B0604020202020204" pitchFamily="34" charset="0"/>
              </a:rPr>
              <a:t>  =&gt; /</a:t>
            </a:r>
            <a:r>
              <a:rPr lang="tr-TR" b="0" i="0" u="none" strike="noStrike" dirty="0" err="1">
                <a:effectLst/>
                <a:latin typeface="Arial" panose="020B0604020202020204" pitchFamily="34" charset="0"/>
              </a:rPr>
              <a:t>home</a:t>
            </a:r>
            <a:r>
              <a:rPr lang="tr-TR" b="0" i="0" u="none" strike="noStrike" dirty="0">
                <a:effectLst/>
                <a:latin typeface="Arial" panose="020B0604020202020204" pitchFamily="34" charset="0"/>
              </a:rPr>
              <a:t> dizininden farklı olarak "</a:t>
            </a:r>
            <a:r>
              <a:rPr lang="tr-TR" b="0" i="0" u="none" strike="noStrike" dirty="0" err="1">
                <a:effectLst/>
                <a:latin typeface="Arial" panose="020B0604020202020204" pitchFamily="34" charset="0"/>
              </a:rPr>
              <a:t>root</a:t>
            </a:r>
            <a:r>
              <a:rPr lang="tr-TR" b="0" i="0" u="none" strike="noStrike" dirty="0">
                <a:effectLst/>
                <a:latin typeface="Arial" panose="020B0604020202020204" pitchFamily="34" charset="0"/>
              </a:rPr>
              <a:t> " sistem kullanıcısının ana dizini olduğunu anlamanın dışında bir şey yok</a:t>
            </a:r>
            <a:br>
              <a:rPr lang="tr-TR" b="0" i="0" u="none" strike="noStrike" dirty="0">
                <a:effectLst/>
                <a:latin typeface="Arial" panose="020B0604020202020204" pitchFamily="34" charset="0"/>
              </a:rPr>
            </a:br>
            <a:endParaRPr lang="tr-TR" b="0" dirty="0">
              <a:effectLst/>
            </a:endParaRPr>
          </a:p>
          <a:p>
            <a:pPr rtl="0">
              <a:buNone/>
            </a:pPr>
            <a:r>
              <a:rPr lang="tr-TR" b="0" i="0" u="none" strike="noStrike" dirty="0">
                <a:effectLst/>
                <a:latin typeface="Arial" panose="020B0604020202020204" pitchFamily="34" charset="0"/>
              </a:rPr>
              <a:t>/</a:t>
            </a:r>
            <a:r>
              <a:rPr lang="tr-TR" b="0" i="0" u="none" strike="noStrike" dirty="0" err="1">
                <a:effectLst/>
                <a:latin typeface="Arial" panose="020B0604020202020204" pitchFamily="34" charset="0"/>
              </a:rPr>
              <a:t>tmp</a:t>
            </a:r>
            <a:r>
              <a:rPr lang="tr-TR" b="0" i="0" u="none" strike="noStrike" dirty="0">
                <a:effectLst/>
                <a:latin typeface="Arial" panose="020B0604020202020204" pitchFamily="34" charset="0"/>
              </a:rPr>
              <a:t>  =&gt; Benzersiz bir dizin olmakla beraber geçici bir dizindir. Bir veya iki kez erişilmesi gereken verileri depolar. Sızma testlerinde sonrasında </a:t>
            </a:r>
            <a:r>
              <a:rPr lang="tr-TR" b="0" i="0" u="none" strike="noStrike" dirty="0" err="1">
                <a:effectLst/>
                <a:latin typeface="Arial" panose="020B0604020202020204" pitchFamily="34" charset="0"/>
              </a:rPr>
              <a:t>script</a:t>
            </a:r>
            <a:r>
              <a:rPr lang="tr-TR" b="0" i="0" u="none" strike="noStrike" dirty="0">
                <a:effectLst/>
                <a:latin typeface="Arial" panose="020B0604020202020204" pitchFamily="34" charset="0"/>
              </a:rPr>
              <a:t> veya dosya yüklemek amacıyla saldırganlar tarafından kullanılır. Çünkü saldırganlar </a:t>
            </a:r>
            <a:r>
              <a:rPr lang="tr-TR" b="0" i="0" u="none" strike="noStrike" dirty="0" err="1">
                <a:effectLst/>
                <a:latin typeface="Arial" panose="020B0604020202020204" pitchFamily="34" charset="0"/>
              </a:rPr>
              <a:t>root</a:t>
            </a:r>
            <a:r>
              <a:rPr lang="tr-TR" b="0" i="0" u="none" strike="noStrike" dirty="0">
                <a:effectLst/>
                <a:latin typeface="Arial" panose="020B0604020202020204" pitchFamily="34" charset="0"/>
              </a:rPr>
              <a:t> olmasa bile yazma izni verilir!!!</a:t>
            </a:r>
            <a:endParaRPr lang="tr-TR" b="0" dirty="0">
              <a:effectLst/>
            </a:endParaRPr>
          </a:p>
          <a:p>
            <a:pPr>
              <a:buNone/>
            </a:pPr>
            <a:br>
              <a:rPr lang="tr-TR" dirty="0"/>
            </a:br>
            <a:endParaRPr lang="tr-TR" dirty="0"/>
          </a:p>
        </p:txBody>
      </p:sp>
      <p:pic>
        <p:nvPicPr>
          <p:cNvPr id="9" name="Resim 8">
            <a:extLst>
              <a:ext uri="{FF2B5EF4-FFF2-40B4-BE49-F238E27FC236}">
                <a16:creationId xmlns:a16="http://schemas.microsoft.com/office/drawing/2014/main" id="{BA4FEF5F-C1ED-D8D6-87D5-5C769469DD3E}"/>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981560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C470A6BB-4E8A-40CE-5183-40BE2EC46686}"/>
              </a:ext>
            </a:extLst>
          </p:cNvPr>
          <p:cNvSpPr txBox="1"/>
          <p:nvPr/>
        </p:nvSpPr>
        <p:spPr>
          <a:xfrm>
            <a:off x="754380" y="1870947"/>
            <a:ext cx="7635240" cy="4247317"/>
          </a:xfrm>
          <a:prstGeom prst="rect">
            <a:avLst/>
          </a:prstGeom>
          <a:noFill/>
        </p:spPr>
        <p:txBody>
          <a:bodyPr wrap="square">
            <a:spAutoFit/>
          </a:bodyPr>
          <a:lstStyle/>
          <a:p>
            <a:pPr marL="285750" indent="-285750" rtl="0">
              <a:buFont typeface="Arial" panose="020B0604020202020204" pitchFamily="34" charset="0"/>
              <a:buChar char="•"/>
            </a:pPr>
            <a:r>
              <a:rPr lang="tr-TR" dirty="0" err="1"/>
              <a:t>Tmp</a:t>
            </a:r>
            <a:r>
              <a:rPr lang="tr-TR" dirty="0"/>
              <a:t> veya </a:t>
            </a:r>
            <a:r>
              <a:rPr lang="tr-TR" dirty="0" err="1"/>
              <a:t>etc</a:t>
            </a:r>
            <a:r>
              <a:rPr lang="tr-TR" dirty="0"/>
              <a:t> gibi dosyalar sistem hakkında bilgi ve yapılan işlemler hakkında bilgi verir bu neden ile saldırı zamanlarında bu dosyalara bakılır.</a:t>
            </a:r>
          </a:p>
          <a:p>
            <a:pPr marL="285750" indent="-285750" rtl="0">
              <a:buFont typeface="Arial" panose="020B0604020202020204" pitchFamily="34" charset="0"/>
              <a:buChar char="•"/>
            </a:pPr>
            <a:endParaRPr lang="tr-TR" dirty="0"/>
          </a:p>
          <a:p>
            <a:pPr marL="285750" indent="-285750">
              <a:buFont typeface="Arial" panose="020B0604020202020204" pitchFamily="34" charset="0"/>
              <a:buChar char="•"/>
            </a:pPr>
            <a:r>
              <a:rPr lang="tr-TR" dirty="0"/>
              <a:t>Saldırganların /</a:t>
            </a:r>
            <a:r>
              <a:rPr lang="tr-TR" dirty="0" err="1"/>
              <a:t>tmp</a:t>
            </a:r>
            <a:r>
              <a:rPr lang="tr-TR" dirty="0"/>
              <a:t> dizinini tercih etmesinin en önemli sebebi, bu dizinin genellikle tüm kullanıcılara yazma izni vermesidir. Tüm kullanıcılara yazma izni verdiği için saldırganlar burayı rahatça kullanır. Ayrıca yeniden başlatmada silindiği için delilleri gizlemelerine yardımcı olabilir..</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Var dosyasının incelenmesi de bir o kadar önemlidir çünkü savunma esnasında saldırı yapılmış mı yapılmamış mı veya hatalı giriş yapılmış mı gibi her şey orada kayıtlı kalır.</a:t>
            </a:r>
          </a:p>
          <a:p>
            <a:pPr rtl="0">
              <a:buNone/>
            </a:pPr>
            <a:br>
              <a:rPr lang="tr-TR" dirty="0"/>
            </a:br>
            <a:endParaRPr lang="tr-TR" dirty="0"/>
          </a:p>
        </p:txBody>
      </p:sp>
      <p:sp>
        <p:nvSpPr>
          <p:cNvPr id="5" name="Başlık 1">
            <a:extLst>
              <a:ext uri="{FF2B5EF4-FFF2-40B4-BE49-F238E27FC236}">
                <a16:creationId xmlns:a16="http://schemas.microsoft.com/office/drawing/2014/main" id="{5E13C3A3-BAFD-BDA9-0D0D-F52E205F0232}"/>
              </a:ext>
            </a:extLst>
          </p:cNvPr>
          <p:cNvSpPr>
            <a:spLocks noGrp="1"/>
          </p:cNvSpPr>
          <p:nvPr>
            <p:ph type="title"/>
          </p:nvPr>
        </p:nvSpPr>
        <p:spPr>
          <a:xfrm>
            <a:off x="484710" y="452718"/>
            <a:ext cx="7055380" cy="1400530"/>
          </a:xfrm>
        </p:spPr>
        <p:txBody>
          <a:bodyPr/>
          <a:lstStyle/>
          <a:p>
            <a:pPr algn="ctr"/>
            <a:r>
              <a:rPr lang="tr-TR" dirty="0"/>
              <a:t>Önemi</a:t>
            </a:r>
          </a:p>
        </p:txBody>
      </p:sp>
      <p:pic>
        <p:nvPicPr>
          <p:cNvPr id="6" name="Resim 5">
            <a:extLst>
              <a:ext uri="{FF2B5EF4-FFF2-40B4-BE49-F238E27FC236}">
                <a16:creationId xmlns:a16="http://schemas.microsoft.com/office/drawing/2014/main" id="{452BE12D-DF9B-505E-0336-61FC7C1F747D}"/>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236803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o 4">
            <a:extLst>
              <a:ext uri="{FF2B5EF4-FFF2-40B4-BE49-F238E27FC236}">
                <a16:creationId xmlns:a16="http://schemas.microsoft.com/office/drawing/2014/main" id="{58064D72-05BF-7BE2-3210-628DDC507ABE}"/>
              </a:ext>
            </a:extLst>
          </p:cNvPr>
          <p:cNvGraphicFramePr>
            <a:graphicFrameLocks noGrp="1"/>
          </p:cNvGraphicFramePr>
          <p:nvPr>
            <p:extLst>
              <p:ext uri="{D42A27DB-BD31-4B8C-83A1-F6EECF244321}">
                <p14:modId xmlns:p14="http://schemas.microsoft.com/office/powerpoint/2010/main" val="514625571"/>
              </p:ext>
            </p:extLst>
          </p:nvPr>
        </p:nvGraphicFramePr>
        <p:xfrm>
          <a:off x="279514" y="393188"/>
          <a:ext cx="7245999" cy="6309364"/>
        </p:xfrm>
        <a:graphic>
          <a:graphicData uri="http://schemas.openxmlformats.org/drawingml/2006/table">
            <a:tbl>
              <a:tblPr/>
              <a:tblGrid>
                <a:gridCol w="2415333">
                  <a:extLst>
                    <a:ext uri="{9D8B030D-6E8A-4147-A177-3AD203B41FA5}">
                      <a16:colId xmlns:a16="http://schemas.microsoft.com/office/drawing/2014/main" val="678072963"/>
                    </a:ext>
                  </a:extLst>
                </a:gridCol>
                <a:gridCol w="2415333">
                  <a:extLst>
                    <a:ext uri="{9D8B030D-6E8A-4147-A177-3AD203B41FA5}">
                      <a16:colId xmlns:a16="http://schemas.microsoft.com/office/drawing/2014/main" val="3397497943"/>
                    </a:ext>
                  </a:extLst>
                </a:gridCol>
                <a:gridCol w="2415333">
                  <a:extLst>
                    <a:ext uri="{9D8B030D-6E8A-4147-A177-3AD203B41FA5}">
                      <a16:colId xmlns:a16="http://schemas.microsoft.com/office/drawing/2014/main" val="592783726"/>
                    </a:ext>
                  </a:extLst>
                </a:gridCol>
              </a:tblGrid>
              <a:tr h="448606">
                <a:tc>
                  <a:txBody>
                    <a:bodyPr/>
                    <a:lstStyle/>
                    <a:p>
                      <a:pPr rtl="0">
                        <a:buNone/>
                      </a:pPr>
                      <a:r>
                        <a:rPr lang="tr-TR" sz="1200" b="1">
                          <a:solidFill>
                            <a:schemeClr val="tx1"/>
                          </a:solidFill>
                          <a:effectLst/>
                          <a:latin typeface="Google Sans Text"/>
                        </a:rPr>
                        <a:t>Dizin</a:t>
                      </a:r>
                      <a:endParaRPr lang="tr-TR" sz="120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b="1">
                          <a:solidFill>
                            <a:schemeClr val="tx1"/>
                          </a:solidFill>
                          <a:effectLst/>
                          <a:latin typeface="Google Sans Text"/>
                        </a:rPr>
                        <a:t>Görevi</a:t>
                      </a:r>
                      <a:endParaRPr lang="tr-TR" sz="120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b="1">
                          <a:solidFill>
                            <a:schemeClr val="tx1"/>
                          </a:solidFill>
                          <a:effectLst/>
                          <a:latin typeface="Google Sans Text"/>
                        </a:rPr>
                        <a:t>Siber Güvenlik Açısından Önemi</a:t>
                      </a:r>
                      <a:endParaRPr lang="tr-TR" sz="120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19523108"/>
                  </a:ext>
                </a:extLst>
              </a:tr>
              <a:tr h="976793">
                <a:tc>
                  <a:txBody>
                    <a:bodyPr/>
                    <a:lstStyle/>
                    <a:p>
                      <a:pPr rtl="0">
                        <a:buNone/>
                      </a:pPr>
                      <a:r>
                        <a:rPr lang="tr-TR" sz="2800" b="1" dirty="0">
                          <a:solidFill>
                            <a:schemeClr val="tx1"/>
                          </a:solidFill>
                          <a:effectLst/>
                          <a:latin typeface="Google Sans Text"/>
                        </a:rPr>
                        <a:t>/</a:t>
                      </a:r>
                      <a:r>
                        <a:rPr lang="tr-TR" sz="2800" b="1" dirty="0" err="1">
                          <a:solidFill>
                            <a:schemeClr val="tx1"/>
                          </a:solidFill>
                          <a:effectLst/>
                          <a:latin typeface="Google Sans Text"/>
                        </a:rPr>
                        <a:t>etc</a:t>
                      </a:r>
                      <a:endParaRPr lang="tr-TR" sz="2800" dirty="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dirty="0">
                          <a:solidFill>
                            <a:schemeClr val="tx1"/>
                          </a:solidFill>
                          <a:effectLst/>
                          <a:latin typeface="Google Sans Text"/>
                        </a:rPr>
                        <a:t>Sistem yapılandırma ve ayar dosyalarını barındırır</a:t>
                      </a:r>
                      <a:r>
                        <a:rPr lang="tr-TR" sz="1200" baseline="30000" dirty="0">
                          <a:solidFill>
                            <a:schemeClr val="tx1"/>
                          </a:solidFill>
                          <a:effectLst/>
                          <a:latin typeface="Google Sans Text"/>
                        </a:rPr>
                        <a:t>1</a:t>
                      </a:r>
                      <a:r>
                        <a:rPr lang="tr-TR" sz="1200" dirty="0">
                          <a:solidFill>
                            <a:schemeClr val="tx1"/>
                          </a:solidFill>
                          <a:effectLst/>
                          <a:latin typeface="Google Sans Text"/>
                        </a:rPr>
                        <a:t>.</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Saldırganların hedefi olan kullanıcı listesi (passwd) ve şifre hashleri (shadow) buradadır.</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46617328"/>
                  </a:ext>
                </a:extLst>
              </a:tr>
              <a:tr h="1152855">
                <a:tc>
                  <a:txBody>
                    <a:bodyPr/>
                    <a:lstStyle/>
                    <a:p>
                      <a:pPr rtl="0">
                        <a:buNone/>
                      </a:pPr>
                      <a:r>
                        <a:rPr lang="tr-TR" sz="3200" b="1" dirty="0">
                          <a:solidFill>
                            <a:schemeClr val="tx1"/>
                          </a:solidFill>
                          <a:effectLst/>
                          <a:latin typeface="Google Sans Text"/>
                        </a:rPr>
                        <a:t>/</a:t>
                      </a:r>
                      <a:r>
                        <a:rPr lang="tr-TR" sz="2800" b="1" dirty="0">
                          <a:solidFill>
                            <a:schemeClr val="tx1"/>
                          </a:solidFill>
                          <a:effectLst/>
                          <a:latin typeface="Google Sans Text"/>
                        </a:rPr>
                        <a:t>var</a:t>
                      </a:r>
                      <a:endParaRPr lang="tr-TR" sz="3200" dirty="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dirty="0">
                          <a:solidFill>
                            <a:schemeClr val="tx1"/>
                          </a:solidFill>
                          <a:effectLst/>
                          <a:latin typeface="Google Sans Text"/>
                        </a:rPr>
                        <a:t>Sürekli değişen verileri (Loglar, </a:t>
                      </a:r>
                      <a:r>
                        <a:rPr lang="tr-TR" sz="1200" dirty="0" err="1">
                          <a:solidFill>
                            <a:schemeClr val="tx1"/>
                          </a:solidFill>
                          <a:effectLst/>
                          <a:latin typeface="Google Sans Text"/>
                        </a:rPr>
                        <a:t>veritabanları</a:t>
                      </a:r>
                      <a:r>
                        <a:rPr lang="tr-TR" sz="1200" dirty="0">
                          <a:solidFill>
                            <a:schemeClr val="tx1"/>
                          </a:solidFill>
                          <a:effectLst/>
                          <a:latin typeface="Google Sans Text"/>
                        </a:rPr>
                        <a:t>) tutar</a:t>
                      </a:r>
                      <a:r>
                        <a:rPr lang="tr-TR" sz="1200" baseline="30000" dirty="0">
                          <a:solidFill>
                            <a:schemeClr val="tx1"/>
                          </a:solidFill>
                          <a:effectLst/>
                          <a:latin typeface="Google Sans Text"/>
                        </a:rPr>
                        <a:t>2</a:t>
                      </a:r>
                      <a:r>
                        <a:rPr lang="tr-TR" sz="1200" dirty="0">
                          <a:solidFill>
                            <a:schemeClr val="tx1"/>
                          </a:solidFill>
                          <a:effectLst/>
                          <a:latin typeface="Google Sans Text"/>
                        </a:rPr>
                        <a:t>.</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Saldırı izlerini sürmek için loglar (/var/log) ve web sitesi dosyaları (/var/www) burada incelenir</a:t>
                      </a:r>
                      <a:r>
                        <a:rPr lang="tr-TR" sz="1200" baseline="30000">
                          <a:solidFill>
                            <a:schemeClr val="tx1"/>
                          </a:solidFill>
                          <a:effectLst/>
                          <a:latin typeface="Google Sans Text"/>
                        </a:rPr>
                        <a:t>3</a:t>
                      </a:r>
                      <a:r>
                        <a:rPr lang="tr-TR" sz="1200">
                          <a:solidFill>
                            <a:schemeClr val="tx1"/>
                          </a:solidFill>
                          <a:effectLst/>
                          <a:latin typeface="Google Sans Text"/>
                        </a:rPr>
                        <a:t>.</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27196906"/>
                  </a:ext>
                </a:extLst>
              </a:tr>
              <a:tr h="1152855">
                <a:tc>
                  <a:txBody>
                    <a:bodyPr/>
                    <a:lstStyle/>
                    <a:p>
                      <a:pPr rtl="0">
                        <a:buNone/>
                      </a:pPr>
                      <a:r>
                        <a:rPr lang="tr-TR" sz="2800" b="1" dirty="0">
                          <a:solidFill>
                            <a:schemeClr val="tx1"/>
                          </a:solidFill>
                          <a:effectLst/>
                          <a:latin typeface="Google Sans Text"/>
                        </a:rPr>
                        <a:t>/</a:t>
                      </a:r>
                      <a:r>
                        <a:rPr lang="tr-TR" sz="2800" b="1" dirty="0" err="1">
                          <a:solidFill>
                            <a:schemeClr val="tx1"/>
                          </a:solidFill>
                          <a:effectLst/>
                          <a:latin typeface="Google Sans Text"/>
                        </a:rPr>
                        <a:t>tmp</a:t>
                      </a:r>
                      <a:endParaRPr lang="tr-TR" sz="2800" dirty="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Geçici dosyaların tutulduğu alandır</a:t>
                      </a:r>
                      <a:r>
                        <a:rPr lang="tr-TR" sz="1200" baseline="30000">
                          <a:solidFill>
                            <a:schemeClr val="tx1"/>
                          </a:solidFill>
                          <a:effectLst/>
                          <a:latin typeface="Google Sans Text"/>
                        </a:rPr>
                        <a:t>4</a:t>
                      </a:r>
                      <a:r>
                        <a:rPr lang="tr-TR" sz="1200">
                          <a:solidFill>
                            <a:schemeClr val="tx1"/>
                          </a:solidFill>
                          <a:effectLst/>
                          <a:latin typeface="Google Sans Text"/>
                        </a:rPr>
                        <a:t>.</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Genellikle tüm kullanıcılara yazma izni açıktır; saldırganlar zararlı scriptleri buraya indirip çalıştırabilir</a:t>
                      </a:r>
                      <a:r>
                        <a:rPr lang="tr-TR" sz="1200" baseline="30000">
                          <a:solidFill>
                            <a:schemeClr val="tx1"/>
                          </a:solidFill>
                          <a:effectLst/>
                          <a:latin typeface="Google Sans Text"/>
                        </a:rPr>
                        <a:t>5</a:t>
                      </a:r>
                      <a:r>
                        <a:rPr lang="tr-TR" sz="1200">
                          <a:solidFill>
                            <a:schemeClr val="tx1"/>
                          </a:solidFill>
                          <a:effectLst/>
                          <a:latin typeface="Google Sans Text"/>
                        </a:rPr>
                        <a:t>.</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62950925"/>
                  </a:ext>
                </a:extLst>
              </a:tr>
              <a:tr h="800731">
                <a:tc>
                  <a:txBody>
                    <a:bodyPr/>
                    <a:lstStyle/>
                    <a:p>
                      <a:pPr rtl="0">
                        <a:buNone/>
                      </a:pPr>
                      <a:r>
                        <a:rPr lang="tr-TR" sz="2800" b="1" dirty="0">
                          <a:solidFill>
                            <a:schemeClr val="tx1"/>
                          </a:solidFill>
                          <a:effectLst/>
                          <a:latin typeface="Google Sans Text"/>
                        </a:rPr>
                        <a:t>/</a:t>
                      </a:r>
                      <a:r>
                        <a:rPr lang="tr-TR" sz="2800" b="1" dirty="0" err="1">
                          <a:solidFill>
                            <a:schemeClr val="tx1"/>
                          </a:solidFill>
                          <a:effectLst/>
                          <a:latin typeface="Google Sans Text"/>
                        </a:rPr>
                        <a:t>root</a:t>
                      </a:r>
                      <a:endParaRPr lang="tr-TR" sz="2800" dirty="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Sistem yöneticisinin (Root) kişisel ev dizinidir</a:t>
                      </a:r>
                      <a:r>
                        <a:rPr lang="tr-TR" sz="1200" baseline="30000">
                          <a:solidFill>
                            <a:schemeClr val="tx1"/>
                          </a:solidFill>
                          <a:effectLst/>
                          <a:latin typeface="Google Sans Text"/>
                        </a:rPr>
                        <a:t>6</a:t>
                      </a:r>
                      <a:r>
                        <a:rPr lang="tr-TR" sz="1200">
                          <a:solidFill>
                            <a:schemeClr val="tx1"/>
                          </a:solidFill>
                          <a:effectLst/>
                          <a:latin typeface="Google Sans Text"/>
                        </a:rPr>
                        <a:t>.</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En yetkili kullanıcının özel dosyalarıdır, normal kullanıcılar erişemez.</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79437783"/>
                  </a:ext>
                </a:extLst>
              </a:tr>
              <a:tr h="976793">
                <a:tc>
                  <a:txBody>
                    <a:bodyPr/>
                    <a:lstStyle/>
                    <a:p>
                      <a:pPr rtl="0">
                        <a:buNone/>
                      </a:pPr>
                      <a:r>
                        <a:rPr lang="tr-TR" sz="2800" b="1" dirty="0">
                          <a:solidFill>
                            <a:schemeClr val="tx1"/>
                          </a:solidFill>
                          <a:effectLst/>
                          <a:latin typeface="Google Sans Text"/>
                        </a:rPr>
                        <a:t>/</a:t>
                      </a:r>
                      <a:r>
                        <a:rPr lang="tr-TR" sz="2800" b="1" dirty="0" err="1">
                          <a:solidFill>
                            <a:schemeClr val="tx1"/>
                          </a:solidFill>
                          <a:effectLst/>
                          <a:latin typeface="Google Sans Text"/>
                        </a:rPr>
                        <a:t>home</a:t>
                      </a:r>
                      <a:endParaRPr lang="tr-TR" sz="2800" dirty="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Normal kullanıcıların kişisel dosyalarının bulunduğu dizindir.</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Kullanıcının komut geçmişi (.bash_history) ve kişisel verileri buradan ifşa olabilir.</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74460267"/>
                  </a:ext>
                </a:extLst>
              </a:tr>
              <a:tr h="800731">
                <a:tc>
                  <a:txBody>
                    <a:bodyPr/>
                    <a:lstStyle/>
                    <a:p>
                      <a:pPr rtl="0">
                        <a:buNone/>
                      </a:pPr>
                      <a:r>
                        <a:rPr lang="tr-TR" sz="2800" b="1" dirty="0">
                          <a:solidFill>
                            <a:schemeClr val="tx1"/>
                          </a:solidFill>
                          <a:effectLst/>
                          <a:latin typeface="Google Sans Text"/>
                        </a:rPr>
                        <a:t>/bin</a:t>
                      </a:r>
                      <a:endParaRPr lang="tr-TR" sz="2800" dirty="0">
                        <a:solidFill>
                          <a:schemeClr val="tx1"/>
                        </a:solidFill>
                        <a:effectLst/>
                        <a:latin typeface="Google Sans Text"/>
                      </a:endParaRP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a:solidFill>
                            <a:schemeClr val="tx1"/>
                          </a:solidFill>
                          <a:effectLst/>
                          <a:latin typeface="Google Sans Text"/>
                        </a:rPr>
                        <a:t>Temel kullanıcı komutlarını (cat, ls, grep) barındırır.</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sz="1200" dirty="0">
                          <a:solidFill>
                            <a:schemeClr val="tx1"/>
                          </a:solidFill>
                          <a:effectLst/>
                          <a:latin typeface="Google Sans Text"/>
                        </a:rPr>
                        <a:t>Saldırganın sistemi keşfetmek için kullandığı araçlar buradan çağrılır.</a:t>
                      </a:r>
                    </a:p>
                  </a:txBody>
                  <a:tcPr marL="50109" marR="50109" marT="33406" marB="3340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67855923"/>
                  </a:ext>
                </a:extLst>
              </a:tr>
            </a:tbl>
          </a:graphicData>
        </a:graphic>
      </p:graphicFrame>
      <p:pic>
        <p:nvPicPr>
          <p:cNvPr id="6" name="Resim 5">
            <a:extLst>
              <a:ext uri="{FF2B5EF4-FFF2-40B4-BE49-F238E27FC236}">
                <a16:creationId xmlns:a16="http://schemas.microsoft.com/office/drawing/2014/main" id="{425A8363-C3A4-A90B-592E-AD3E90499B36}"/>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34072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Özel </a:t>
            </a:r>
            <a:r>
              <a:rPr dirty="0" err="1"/>
              <a:t>Operatörler</a:t>
            </a:r>
            <a:endParaRPr dirty="0"/>
          </a:p>
        </p:txBody>
      </p:sp>
      <p:sp>
        <p:nvSpPr>
          <p:cNvPr id="3" name="Content Placeholder 2"/>
          <p:cNvSpPr>
            <a:spLocks noGrp="1"/>
          </p:cNvSpPr>
          <p:nvPr>
            <p:ph idx="1"/>
          </p:nvPr>
        </p:nvSpPr>
        <p:spPr>
          <a:xfrm>
            <a:off x="827700" y="2052925"/>
            <a:ext cx="3159084" cy="4195481"/>
          </a:xfrm>
        </p:spPr>
        <p:txBody>
          <a:bodyPr/>
          <a:lstStyle/>
          <a:p>
            <a:r>
              <a:rPr dirty="0"/>
              <a:t>| </a:t>
            </a:r>
            <a:r>
              <a:rPr dirty="0" err="1"/>
              <a:t>komutu</a:t>
            </a:r>
            <a:r>
              <a:rPr dirty="0"/>
              <a:t> </a:t>
            </a:r>
            <a:r>
              <a:rPr dirty="0" err="1"/>
              <a:t>birden</a:t>
            </a:r>
            <a:r>
              <a:rPr dirty="0"/>
              <a:t> </a:t>
            </a:r>
            <a:r>
              <a:rPr dirty="0" err="1"/>
              <a:t>fazla</a:t>
            </a:r>
            <a:r>
              <a:rPr dirty="0"/>
              <a:t> </a:t>
            </a:r>
            <a:r>
              <a:rPr dirty="0" err="1"/>
              <a:t>komutu</a:t>
            </a:r>
            <a:r>
              <a:rPr dirty="0"/>
              <a:t> </a:t>
            </a:r>
            <a:r>
              <a:rPr dirty="0" err="1"/>
              <a:t>zincirler</a:t>
            </a:r>
            <a:r>
              <a:rPr dirty="0"/>
              <a:t>.</a:t>
            </a:r>
          </a:p>
          <a:p>
            <a:r>
              <a:rPr dirty="0"/>
              <a:t>&gt;</a:t>
            </a:r>
            <a:r>
              <a:rPr lang="tr-TR" dirty="0"/>
              <a:t> dosya içindekini siler ve üstüne yazar.</a:t>
            </a:r>
          </a:p>
          <a:p>
            <a:r>
              <a:rPr dirty="0"/>
              <a:t>&gt;&gt;</a:t>
            </a:r>
            <a:r>
              <a:rPr lang="tr-TR" dirty="0"/>
              <a:t> dosyanın her zaman en sonuna yazar</a:t>
            </a:r>
            <a:r>
              <a:rPr dirty="0"/>
              <a:t>.</a:t>
            </a:r>
            <a:endParaRPr lang="tr-TR" dirty="0"/>
          </a:p>
          <a:p>
            <a:r>
              <a:rPr lang="tr-TR" dirty="0" err="1"/>
              <a:t>cat</a:t>
            </a:r>
            <a:r>
              <a:rPr lang="tr-TR" dirty="0"/>
              <a:t> dosya içeriğini gösterir.</a:t>
            </a:r>
          </a:p>
          <a:p>
            <a:r>
              <a:rPr lang="tr-TR" dirty="0" err="1"/>
              <a:t>sort</a:t>
            </a:r>
            <a:r>
              <a:rPr lang="tr-TR" dirty="0"/>
              <a:t> sıralar.</a:t>
            </a:r>
          </a:p>
          <a:p>
            <a:r>
              <a:rPr lang="tr-TR" dirty="0"/>
              <a:t> </a:t>
            </a:r>
            <a:r>
              <a:rPr lang="tr-TR" dirty="0" err="1"/>
              <a:t>grep</a:t>
            </a:r>
            <a:r>
              <a:rPr lang="tr-TR" dirty="0"/>
              <a:t> arar.</a:t>
            </a:r>
          </a:p>
          <a:p>
            <a:endParaRPr lang="tr-TR" dirty="0"/>
          </a:p>
          <a:p>
            <a:endParaRPr dirty="0"/>
          </a:p>
        </p:txBody>
      </p:sp>
      <p:pic>
        <p:nvPicPr>
          <p:cNvPr id="2050" name="Picture 2">
            <a:extLst>
              <a:ext uri="{FF2B5EF4-FFF2-40B4-BE49-F238E27FC236}">
                <a16:creationId xmlns:a16="http://schemas.microsoft.com/office/drawing/2014/main" id="{71517143-0999-65E6-4198-DEFA50DD35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419" t="19486" r="38194" b="37753"/>
          <a:stretch>
            <a:fillRect/>
          </a:stretch>
        </p:blipFill>
        <p:spPr bwMode="auto">
          <a:xfrm>
            <a:off x="4572000" y="1853248"/>
            <a:ext cx="3785616" cy="3450735"/>
          </a:xfrm>
          <a:prstGeom prst="rect">
            <a:avLst/>
          </a:prstGeom>
          <a:noFill/>
          <a:extLst>
            <a:ext uri="{909E8E84-426E-40DD-AFC4-6F175D3DCCD1}">
              <a14:hiddenFill xmlns:a14="http://schemas.microsoft.com/office/drawing/2010/main">
                <a:solidFill>
                  <a:srgbClr val="FFFFFF"/>
                </a:solidFill>
              </a14:hiddenFill>
            </a:ext>
          </a:extLst>
        </p:spPr>
      </p:pic>
      <p:pic>
        <p:nvPicPr>
          <p:cNvPr id="5" name="Resim 4">
            <a:extLst>
              <a:ext uri="{FF2B5EF4-FFF2-40B4-BE49-F238E27FC236}">
                <a16:creationId xmlns:a16="http://schemas.microsoft.com/office/drawing/2014/main" id="{69CB058F-DF02-2BAE-9209-EBADD876487C}"/>
              </a:ext>
            </a:extLst>
          </p:cNvPr>
          <p:cNvPicPr>
            <a:picLocks noChangeAspect="1"/>
          </p:cNvPicPr>
          <p:nvPr/>
        </p:nvPicPr>
        <p:blipFill>
          <a:blip r:embed="rId3"/>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tr-TR" dirty="0"/>
              <a:t>Araçlar</a:t>
            </a:r>
            <a:endParaRPr dirty="0"/>
          </a:p>
        </p:txBody>
      </p:sp>
      <p:sp>
        <p:nvSpPr>
          <p:cNvPr id="3" name="Content Placeholder 2"/>
          <p:cNvSpPr>
            <a:spLocks noGrp="1"/>
          </p:cNvSpPr>
          <p:nvPr>
            <p:ph idx="1"/>
          </p:nvPr>
        </p:nvSpPr>
        <p:spPr>
          <a:xfrm>
            <a:off x="827700" y="1672682"/>
            <a:ext cx="3680292" cy="4195481"/>
          </a:xfrm>
        </p:spPr>
        <p:txBody>
          <a:bodyPr/>
          <a:lstStyle/>
          <a:p>
            <a:r>
              <a:rPr dirty="0"/>
              <a:t>grep </a:t>
            </a:r>
            <a:r>
              <a:rPr dirty="0" err="1"/>
              <a:t>metin</a:t>
            </a:r>
            <a:r>
              <a:rPr dirty="0"/>
              <a:t> arar</a:t>
            </a:r>
            <a:r>
              <a:rPr lang="tr-TR" dirty="0"/>
              <a:t> ve belirtilen kelimelerin olduğu satırları ekrana yazdırır</a:t>
            </a:r>
            <a:r>
              <a:rPr dirty="0"/>
              <a:t>.</a:t>
            </a:r>
          </a:p>
          <a:p>
            <a:r>
              <a:rPr lang="tr-TR" dirty="0"/>
              <a:t>a</a:t>
            </a:r>
            <a:r>
              <a:rPr dirty="0" err="1"/>
              <a:t>wk</a:t>
            </a:r>
            <a:r>
              <a:rPr lang="tr-TR" dirty="0"/>
              <a:t> sütunlarla çalışır ve hangi sütunu belirttiysek sadece o sütunlar gözükür.</a:t>
            </a:r>
            <a:r>
              <a:rPr dirty="0"/>
              <a:t> </a:t>
            </a:r>
            <a:endParaRPr lang="tr-TR" dirty="0"/>
          </a:p>
          <a:p>
            <a:r>
              <a:rPr lang="tr-TR" dirty="0"/>
              <a:t>s</a:t>
            </a:r>
            <a:r>
              <a:rPr dirty="0"/>
              <a:t>ed</a:t>
            </a:r>
            <a:r>
              <a:rPr lang="tr-TR" dirty="0"/>
              <a:t> istediğimiz metni değiştirmek için kısayol olarak bu araç kullanılır</a:t>
            </a:r>
            <a:r>
              <a:rPr dirty="0"/>
              <a:t>.</a:t>
            </a:r>
          </a:p>
        </p:txBody>
      </p:sp>
      <p:pic>
        <p:nvPicPr>
          <p:cNvPr id="5" name="Resim 4" descr="metin, ekran görüntüsü içeren bir resim&#10;&#10;Yapay zeka tarafından oluşturulmuş içerik yanlış olabilir.">
            <a:extLst>
              <a:ext uri="{FF2B5EF4-FFF2-40B4-BE49-F238E27FC236}">
                <a16:creationId xmlns:a16="http://schemas.microsoft.com/office/drawing/2014/main" id="{16C805DF-B475-D5E2-EE10-4B127913BC1F}"/>
              </a:ext>
            </a:extLst>
          </p:cNvPr>
          <p:cNvPicPr>
            <a:picLocks noChangeAspect="1"/>
          </p:cNvPicPr>
          <p:nvPr/>
        </p:nvPicPr>
        <p:blipFill>
          <a:blip r:embed="rId2"/>
          <a:srcRect b="16161"/>
          <a:stretch>
            <a:fillRect/>
          </a:stretch>
        </p:blipFill>
        <p:spPr>
          <a:xfrm>
            <a:off x="4513426" y="1538507"/>
            <a:ext cx="4286848" cy="3466246"/>
          </a:xfrm>
          <a:prstGeom prst="rect">
            <a:avLst/>
          </a:prstGeom>
        </p:spPr>
      </p:pic>
      <p:pic>
        <p:nvPicPr>
          <p:cNvPr id="6" name="Resim 5">
            <a:extLst>
              <a:ext uri="{FF2B5EF4-FFF2-40B4-BE49-F238E27FC236}">
                <a16:creationId xmlns:a16="http://schemas.microsoft.com/office/drawing/2014/main" id="{A9406F90-8F9D-D9E7-4BCD-7C0DC9F78BCE}"/>
              </a:ext>
            </a:extLst>
          </p:cNvPr>
          <p:cNvPicPr>
            <a:picLocks noChangeAspect="1"/>
          </p:cNvPicPr>
          <p:nvPr/>
        </p:nvPicPr>
        <p:blipFill>
          <a:blip r:embed="rId3"/>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7B919E7-0CC5-17B5-F265-5991E5824DBD}"/>
              </a:ext>
            </a:extLst>
          </p:cNvPr>
          <p:cNvSpPr>
            <a:spLocks noGrp="1"/>
          </p:cNvSpPr>
          <p:nvPr>
            <p:ph type="title"/>
          </p:nvPr>
        </p:nvSpPr>
        <p:spPr>
          <a:xfrm>
            <a:off x="697589" y="1853248"/>
            <a:ext cx="7055380" cy="1400530"/>
          </a:xfrm>
        </p:spPr>
        <p:txBody>
          <a:bodyPr/>
          <a:lstStyle/>
          <a:p>
            <a:r>
              <a:rPr lang="tr-TR" sz="2800" dirty="0"/>
              <a:t>Siber güvenlik alanında yeni olanlar veya uzmanlaşmış olanlar çoğunlukla </a:t>
            </a:r>
            <a:r>
              <a:rPr lang="tr-TR" sz="2800" dirty="0" err="1"/>
              <a:t>linuxu</a:t>
            </a:r>
            <a:r>
              <a:rPr lang="tr-TR" sz="2800" dirty="0"/>
              <a:t> </a:t>
            </a:r>
            <a:r>
              <a:rPr lang="tr-TR" sz="2800" dirty="0" err="1"/>
              <a:t>root</a:t>
            </a:r>
            <a:r>
              <a:rPr lang="tr-TR" sz="2800" dirty="0"/>
              <a:t> olarak kullanmazlar bunun sebebi ise şudur: </a:t>
            </a:r>
            <a:r>
              <a:rPr lang="tr-TR" sz="2800" dirty="0" err="1"/>
              <a:t>linuxta</a:t>
            </a:r>
            <a:r>
              <a:rPr lang="tr-TR" sz="2800" dirty="0"/>
              <a:t> </a:t>
            </a:r>
            <a:r>
              <a:rPr lang="tr-TR" sz="2800" dirty="0" err="1"/>
              <a:t>root</a:t>
            </a:r>
            <a:r>
              <a:rPr lang="tr-TR" sz="2800" dirty="0"/>
              <a:t> olunduğu zaman tüm yetkilere sahipsin demektir. Bunun için her komutta sistemi bozma ihtimalin vardır fakat </a:t>
            </a:r>
            <a:r>
              <a:rPr lang="tr-TR" sz="2800" dirty="0" err="1"/>
              <a:t>root</a:t>
            </a:r>
            <a:r>
              <a:rPr lang="tr-TR" sz="2800" dirty="0"/>
              <a:t> olmayan kullanıcı için izin isteyen bir komut girsen bile şifre olmadan o komut çalışmaz. Önemli verilerin kaybını önler.</a:t>
            </a:r>
          </a:p>
        </p:txBody>
      </p:sp>
      <p:pic>
        <p:nvPicPr>
          <p:cNvPr id="5" name="Resim 4">
            <a:extLst>
              <a:ext uri="{FF2B5EF4-FFF2-40B4-BE49-F238E27FC236}">
                <a16:creationId xmlns:a16="http://schemas.microsoft.com/office/drawing/2014/main" id="{C8B6F138-4EC0-75CF-61A1-CAE23DB70B2A}"/>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Başlık 1">
            <a:extLst>
              <a:ext uri="{FF2B5EF4-FFF2-40B4-BE49-F238E27FC236}">
                <a16:creationId xmlns:a16="http://schemas.microsoft.com/office/drawing/2014/main" id="{A8BA659F-E51C-22A3-6FDD-23A001FA6B78}"/>
              </a:ext>
            </a:extLst>
          </p:cNvPr>
          <p:cNvSpPr txBox="1">
            <a:spLocks/>
          </p:cNvSpPr>
          <p:nvPr/>
        </p:nvSpPr>
        <p:spPr>
          <a:xfrm>
            <a:off x="484710" y="452718"/>
            <a:ext cx="7055380" cy="1400530"/>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tr-TR" dirty="0" err="1"/>
              <a:t>Root</a:t>
            </a:r>
            <a:r>
              <a:rPr lang="tr-TR" dirty="0"/>
              <a:t> olma!!!</a:t>
            </a:r>
          </a:p>
        </p:txBody>
      </p:sp>
    </p:spTree>
    <p:extLst>
      <p:ext uri="{BB962C8B-B14F-4D97-AF65-F5344CB8AC3E}">
        <p14:creationId xmlns:p14="http://schemas.microsoft.com/office/powerpoint/2010/main" val="2929311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err="1"/>
              <a:t>Kaynakça</a:t>
            </a:r>
            <a:endParaRPr dirty="0"/>
          </a:p>
        </p:txBody>
      </p:sp>
      <p:sp>
        <p:nvSpPr>
          <p:cNvPr id="3" name="Content Placeholder 2"/>
          <p:cNvSpPr>
            <a:spLocks noGrp="1"/>
          </p:cNvSpPr>
          <p:nvPr>
            <p:ph idx="1"/>
          </p:nvPr>
        </p:nvSpPr>
        <p:spPr/>
        <p:txBody>
          <a:bodyPr/>
          <a:lstStyle/>
          <a:p>
            <a:r>
              <a:rPr dirty="0"/>
              <a:t>Gemini AI</a:t>
            </a:r>
          </a:p>
          <a:p>
            <a:r>
              <a:rPr dirty="0"/>
              <a:t>Linux</a:t>
            </a:r>
          </a:p>
        </p:txBody>
      </p:sp>
      <p:pic>
        <p:nvPicPr>
          <p:cNvPr id="4" name="Resim 3">
            <a:extLst>
              <a:ext uri="{FF2B5EF4-FFF2-40B4-BE49-F238E27FC236}">
                <a16:creationId xmlns:a16="http://schemas.microsoft.com/office/drawing/2014/main" id="{DC8339CC-6F73-E12A-7BE7-E986411E8AFE}"/>
              </a:ext>
            </a:extLst>
          </p:cNvPr>
          <p:cNvPicPr>
            <a:picLocks noChangeAspect="1"/>
          </p:cNvPicPr>
          <p:nvPr/>
        </p:nvPicPr>
        <p:blipFill>
          <a:blip r:embed="rId2"/>
          <a:stretch>
            <a:fillRect/>
          </a:stretch>
        </p:blipFill>
        <p:spPr>
          <a:xfrm>
            <a:off x="7752969" y="393372"/>
            <a:ext cx="636651" cy="6366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a:themeElements>
    <a:clrScheme name="İy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y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67</TotalTime>
  <Words>577</Words>
  <Application>Microsoft Office PowerPoint</Application>
  <PresentationFormat>Ekran Gösterisi (4:3)</PresentationFormat>
  <Paragraphs>67</Paragraphs>
  <Slides>9</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9</vt:i4>
      </vt:variant>
    </vt:vector>
  </HeadingPairs>
  <TitlesOfParts>
    <vt:vector size="14" baseType="lpstr">
      <vt:lpstr>Arial</vt:lpstr>
      <vt:lpstr>Century Gothic</vt:lpstr>
      <vt:lpstr>Google Sans Text</vt:lpstr>
      <vt:lpstr>Wingdings 3</vt:lpstr>
      <vt:lpstr>İyon</vt:lpstr>
      <vt:lpstr>Linux Terminali:  Siber Güvenliğin Mutfak Tezgahı.</vt:lpstr>
      <vt:lpstr>Çeşitleri </vt:lpstr>
      <vt:lpstr>Sistem dosyaları neden önemlidir?</vt:lpstr>
      <vt:lpstr>Önemi</vt:lpstr>
      <vt:lpstr>PowerPoint Sunusu</vt:lpstr>
      <vt:lpstr>Özel Operatörler</vt:lpstr>
      <vt:lpstr>Araçlar</vt:lpstr>
      <vt:lpstr>Siber güvenlik alanında yeni olanlar veya uzmanlaşmış olanlar çoğunlukla linuxu root olarak kullanmazlar bunun sebebi ise şudur: linuxta root olunduğu zaman tüm yetkilere sahipsin demektir. Bunun için her komutta sistemi bozma ihtimalin vardır fakat root olmayan kullanıcı için izin isteyen bir komut girsen bile şifre olmadan o komut çalışmaz. Önemli verilerin kaybını önler.</vt:lpstr>
      <vt:lpstr>Kaynakça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Eda Nur Aksin</cp:lastModifiedBy>
  <cp:revision>4</cp:revision>
  <cp:lastPrinted>2025-12-22T20:38:01Z</cp:lastPrinted>
  <dcterms:created xsi:type="dcterms:W3CDTF">2013-01-27T09:14:16Z</dcterms:created>
  <dcterms:modified xsi:type="dcterms:W3CDTF">2025-12-22T20:46:26Z</dcterms:modified>
  <cp:category/>
</cp:coreProperties>
</file>